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32004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SISTEM INFORMASI &amp; EWS DIGITALE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KETAPANG KOTA CILEGON</a:t>
            </a:r>
          </a:p>
          <a:p>
            <a:pPr>
              <a:defRPr sz="2000">
                <a:solidFill>
                  <a:srgbClr val="D1FAE5"/>
                </a:solidFill>
              </a:defRPr>
            </a:pPr>
            <a:r>
              <a:t>Sistem Peringatan Dini, Analisis 3 Pilar FSVA, EWS SKPG, &amp; Peramalan Harga Pangan Berbasis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044D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Pemerintah Kota Cilegon | Dinas Ketahanan Pangan dan Pertanian</a:t>
            </a:r>
          </a:p>
          <a:p>
            <a:pPr>
              <a:defRPr sz="1300">
                <a:solidFill>
                  <a:srgbClr val="A7F3D0"/>
                </a:solidFill>
              </a:defRPr>
            </a:pPr>
            <a:r>
              <a:t>Dokumen Presentasi Eksekutif: Metodologi, Arsitektur Sistem, Integrasi Data FSVA 2025, Dampak Kebijakan, dan Referensi Ilmiah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Daftar Singkatan &amp; Glosarium Istilah UI/UX Sistem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1645920"/>
                <a:gridCol w="3749039"/>
              </a:tblGrid>
              <a:tr h="70539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Singkatan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Kepanjangan / Definisi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Singkatan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Kepanjangan / Definisi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FSVA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Food Security and Vulnerability Atlas (Peta Ketahanan &amp; Kerawanan Pangan)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NCPR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Net Cereals Per Capita Requirement (Rasio Pangan Pokok)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IKP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Indeks Ketahanan Pangan (Komposit Skala 0-100)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Angka Kecukupan Energi (Standar Ketersediaan Energi)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SKPG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Sistem Kewaspadaan Pangan dan Gizi (Pemantauan Bulanan)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Prevalence of Undernourishment (Kurang Konsumsi Energi)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Early Warning System (Sistem Peringatan Dini Kerawanan)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PPH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Pola Pangan Harapan (Keragaman &amp; Kualitas Konsumsi)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BPN / Bapanas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Badan Pangan Nasional Republik Indonesia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GPM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Gerakan Pangan Murah (Operasi Pasar Intervensi Harga)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SAGON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Sistem Informasi Harga Bahan Pokok Pasar Tradisional Cilegon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GBDT / 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Gradient Boosted Decision Trees / Ordinary Least Squares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Latar Belakang &amp; Urgensi Pembangunan Platform KETAPANG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Karakteristik Kota Industri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Kota Cilegon merupakan pusat industri manufaktur &amp; bahan kimia dengan luas lahan pertanian yang relatif terbatas. Ketergantungan pasokan pangan luar daerah sangat tinggi (&gt;85%).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8328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Kerentanan Gejolak Harga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Fluktuasi harga bahan pangan pokok (cabai, bawang, beras, daging) akibat faktor cuaca ekstrem, disparitas pasar, dan biaya logistik memicu risiko inflasi daerah &amp; penurunan daya beli masyarakat.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383280" cy="73152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Kebutuhan Data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Sistem evaluasi manual berbasis kertas/spreadsheet memperlambat deteksi kerawanan pangan. Diperlukan platform digital terpadu berbasis AI &amp; GIS untuk intervensi tepat waktu.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Masalah Utama yang Diselesaikan &amp; Risiko Tanpa Web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038"/>
                </a:solidFill>
              </a:defRPr>
            </a:pPr>
            <a:r>
              <a:t>🎯 MASALAH UTAMA YANG DISLESAIKAN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Fragmentasi Data Pangan: Data harga, gizi balita, dan iklim terpisah di berbagai instansi.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Keterlambatan Deteksi Dini: Tidak ada instrumen otomatis yang mampu memprediksi gejolak harga 1-3 bulan ke depan.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Ketidakakuratan Target Intervensi: Kesulitan menentukan kelurahan mana yang membutuhkan Bantuan Pangan / GPM secara mendesak.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Kurangnya Akses Transparansi: Publik &amp; pedagang kesulitan memantau tren harga resmi pasar.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123C"/>
                </a:solidFill>
              </a:defRPr>
            </a:pPr>
            <a:r>
              <a:t>⚠️ RISIKO FATAL JIKA WEB APP TIDAK DIBUAT</a:t>
            </a:r>
          </a:p>
          <a:p>
            <a:pPr>
              <a:defRPr sz="1150">
                <a:solidFill>
                  <a:srgbClr val="9F1239"/>
                </a:solidFill>
              </a:defRPr>
            </a:pPr>
            <a:r>
              <a:t>• Lag Intervensi Kebijakan: Pemerintah daerah terlambat merespons lonjakan harga hingga menyebabkan panic buying.</a:t>
            </a:r>
          </a:p>
          <a:p>
            <a:pPr>
              <a:defRPr sz="1150">
                <a:solidFill>
                  <a:srgbClr val="9F1239"/>
                </a:solidFill>
              </a:defRPr>
            </a:pPr>
            <a:r>
              <a:t>• Eskalasi Angka Kerawanan Pangan: Kelurahan rentan tanpa air bersih &amp; pendapatan rendah terlambat mendapat pasokan.</a:t>
            </a:r>
          </a:p>
          <a:p>
            <a:pPr>
              <a:defRPr sz="1150">
                <a:solidFill>
                  <a:srgbClr val="9F1239"/>
                </a:solidFill>
              </a:defRPr>
            </a:pPr>
            <a:r>
              <a:t>• Kerugian Ekonomi &amp; Spikulasi Pasar: Pedagang dan konsumen terdampak fluktuasi harga tanpa kepastian stok.</a:t>
            </a:r>
          </a:p>
          <a:p>
            <a:pPr>
              <a:defRPr sz="1150">
                <a:solidFill>
                  <a:srgbClr val="9F1239"/>
                </a:solidFill>
              </a:defRPr>
            </a:pPr>
            <a:r>
              <a:t>• Kegagalan Pencapaian Target SPM: Ketidakmampuan memantau prevalensi stunting &amp; kecukupan gizi balita secara berkala.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Fitur Utama &amp; Fungsi Platform Dashboard Ketapang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6038"/>
                </a:solidFill>
              </a:defRPr>
            </a:pPr>
            <a:r>
              <a:t>🗺️ Peta Ketahanan Pangan (FSVA)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Visualisasi GIS 43 Kelurahan berbasis IKP komposit &amp; 3 pilar (Ketersediaan, Akses, Pemanfaatan).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7A48"/>
                </a:solidFill>
              </a:defRPr>
            </a:pPr>
            <a:r>
              <a:t>🕸️ Grafik Radar Ketahanan Kelurahan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Visualisasi jaring laba-laba 11 Indikator FSVA 2025 dengan mode komparasi Single &amp; Dual Kelurahan.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08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🤖 Peramalan Harga Pangan AI (ML)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Prediksi harga 1 &amp; 3 bulan ke depan berbasis Machine Learning (Random Forest, GBDT, OLS) + Fitur HBKN &amp; Cuaca BMKG.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77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6038"/>
                </a:solidFill>
              </a:defRPr>
            </a:pPr>
            <a:r>
              <a:t>⚠️ Analisis SKPG &amp; EWS Bulanan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Sistem Peringatan Dini status kewaspadaan pangan bulanan kelurahan (Aman, Waspada, Rentan).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977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7A48"/>
                </a:solidFill>
              </a:defRPr>
            </a:pPr>
            <a:r>
              <a:t>🛒 Scraping Harga Harian (SAGON)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Integrasi data pencatatan harga bahan pokok harian dari pasar-pasar tradisional di Kota Cilegon.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84048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97764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📋 Portal Input Admin &amp; Rekomendasi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Manajemen data upload FSVA, SKPG, Gizi Balita, serta penjanaan otomatis Rekomendasi Kebijakan (Policy Action).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Highlight Fitur: Grafik Radar Ketahanan Pangan Kelurahan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48640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6038"/>
                </a:solidFill>
              </a:defRPr>
            </a:pPr>
            <a:r>
              <a:t>📌 11 INDIKATOR FSVA FORM 2 (JUKNIS BAPANAS 2025)</a:t>
            </a:r>
          </a:p>
          <a:p>
            <a:pPr>
              <a:defRPr sz="1050" b="1">
                <a:solidFill>
                  <a:srgbClr val="007A48"/>
                </a:solidFill>
              </a:defRPr>
            </a:pPr>
            <a:r>
              <a:t>1. Pilar Ketersediaan Pangan: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1.1 NCPR (Rasio Pangan Pokok) | 1.2 Ketersediaan Energi (AKE)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1.3 Protein Hewani | 1.4 Cadangan Pangan</a:t>
            </a:r>
          </a:p>
          <a:p>
            <a:pPr>
              <a:defRPr sz="1050" b="1">
                <a:solidFill>
                  <a:srgbClr val="007A48"/>
                </a:solidFill>
              </a:defRPr>
            </a:pPr>
            <a:r>
              <a:t>2. Pilar Keterjangkauan Pangan: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2.1 Penduduk Miskin (Desil 1+2) | 2.2 Stabilitas Harga (CV)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2.3 PoU (Prevalence of Undernourishment)</a:t>
            </a:r>
          </a:p>
          <a:p>
            <a:pPr>
              <a:defRPr sz="1050" b="1">
                <a:solidFill>
                  <a:srgbClr val="007A48"/>
                </a:solidFill>
              </a:defRPr>
            </a:pPr>
            <a:r>
              <a:t>3. Pilar Pemanfaatan Pangan: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3.1 Rata-rata Lama Sekolah Perempuan 15+ Thn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3.2 RT Tanpa Akses Air Bersih | 3.3 Skor Pola Pangan Harapan (PPH)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   • 3.4 Prevalensi Balita Stunting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4937760" cy="493776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✨ KARTU EVALUASI &amp; REKOMENDASI KEBIJAKAN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Single vs City Average Mode: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Membandingkan profil kelurahan terpilih secara otomatis terhadap Rata-rata Kota Cilegon.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Dual Kelurahan Comparison Mode: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Membandingkan 2 kelurahan secara head-to-head untuk penetapan prioritas intervensi.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Dynamic Policy Action (Rekomendasi Kebijakan):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Sistem secara otomatis mendeteksi indikator terlemah di kelurahan tersebut dan menghasilkan rekomendasi aksi spesifik (misal: PMT Lokal Posyandu untuk stunting, GPM untuk CV harga, atau perpipaan air bersih).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Target Pengguna &amp; Pemanfaat Utama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038"/>
                </a:solidFill>
              </a:defRPr>
            </a:pPr>
            <a:r>
              <a:t>🏛️ Pemerintah Kota Cilegon &amp; TPID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Wali Kota, Sekda, dan Tim Pengendali Inflasi Daerah (TPID) menggunakan dashboard eksekutif sebagai landasan keputusan Kebijakan Ketahanan Pangan &amp; Operasi Pasar Murah.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A48"/>
                </a:solidFill>
              </a:defRPr>
            </a:pPr>
            <a:r>
              <a:t>📊 Analis Ketahanan Pangan &amp; OPD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Analis Dinas Ketahanan Pangan (DKPP), Bappeda, dan Disperindag memanfaatkan rincian 11 indikator FSVA &amp; EWS SKPG untuk perencanaan program intervensi spesifik.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🎓 Akademisi &amp; Peneliti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Dosen, mahasiswa, dan peneliti menggunakan basis data historis 5 tahun, peramalan ML, serta indeks FSVA untuk studi ilmiah dan kebijakan publik.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023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👥 Masyarakat &amp; Pelaku Usaha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Warga Kota Cilegon dan pedagang pasar dapat secara transparan memantau perkembangan harga bahan pokok harian &amp; kondisi ketahanan pangan wilayahnya.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Analisis Dampak Strategis Multi-Sektor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Entitas / Pemangku Kepentingan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Dampak Positif &amp; Nilai Tambah Platform KETAPANG</a:t>
                      </a:r>
                    </a:p>
                  </a:txBody>
                  <a:tcPr>
                    <a:solidFill>
                      <a:srgbClr val="00603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006038"/>
                          </a:solidFill>
                        </a:defRPr>
                      </a:pPr>
                      <a:r>
                        <a:t>Ketahanan Pangan Kota Cilegon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Meningkatnya ketahanan pangan daerah melalui deteksi dini kerawanan, stabilitas pasokan energi &amp; protein, serta penurunan angka prevalensi stunting &amp; PoU.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006038"/>
                          </a:solidFill>
                        </a:defRPr>
                      </a:pPr>
                      <a:r>
                        <a:t>Pemkot Cilegon &amp; TPID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Mewujudkan tata kelola pemerintahan berbasis data (Data-Driven Governance), presisi dalam penganggaran APBD untuk bantuan pangan &amp; GPM, serta efektivitas pengendalian inflasi daerah.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006038"/>
                          </a:solidFill>
                        </a:defRPr>
                      </a:pPr>
                      <a:r>
                        <a:t>Analis Ketahanan Pangan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Efisiensi waktu analisis dari hitungan minggu menjadi hitungan detik. Tersedianya instrumen otomatis pencetak rekomendasi kebijakan (Policy Action) per kelurahan.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006038"/>
                          </a:solidFill>
                        </a:defRPr>
                      </a:pPr>
                      <a:r>
                        <a:t>Akademisi &amp; Peneliti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Tersedianya open dataset pangan daerah yang tervalidasi 5 tahun untuk riset ilmiah, pemodelan ekonomi pertanian, dan publikasi jurnal.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b="1" sz="1150">
                          <a:solidFill>
                            <a:srgbClr val="006038"/>
                          </a:solidFill>
                        </a:defRPr>
                      </a:pPr>
                      <a:r>
                        <a:t>Masyarakat Umum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Terlindunginya daya beli masyarakat dari gejolak harga yang tidak terkendali serta terjaminnya akses informasi pangan transparan.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Keandalan Mesin AI &amp; Metodologi Peramalan 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Multi-Model Ensemble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Sistem membandingkan 3 algoritma secara independen untuk tiap komoditas:</a:t>
            </a:r>
            <a:br/>
            <a:r>
              <a:t>1. Random Forest Regressor</a:t>
            </a:r>
            <a:br/>
            <a:r>
              <a:t>2. Custom Gradient Boosting (GBDT)</a:t>
            </a:r>
            <a:br/>
            <a:r>
              <a:t>3. Multiple Linear Regression (OLS)</a:t>
            </a:r>
            <a:br/>
            <a:r>
              <a:t>Champion dipilih dari Walk-Forward MAPE terendah.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83280" cy="731520"/>
          </a:xfrm>
          <a:prstGeom prst="rect">
            <a:avLst/>
          </a:prstGeom>
          <a:solidFill>
            <a:srgbClr val="007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⚙️ Feature Engineering Lanjutan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Mengintegrasikan 3 dimensi variabel:</a:t>
            </a:r>
            <a:br/>
            <a:r>
              <a:t>• Lag Harga Historis (t-1, t-2, t-3, MA3, MA6, Rolling Std)</a:t>
            </a:r>
            <a:br/>
            <a:r>
              <a:t>• Fitur Musiman HBKN (Ramadhan, Idul Fitri, Idul Adha, Nataru)</a:t>
            </a:r>
            <a:br/>
            <a:r>
              <a:t>• Iklim BMKG (Curah Hujan, Suhu, Kelembapan, Hari Hujan)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371600"/>
            <a:ext cx="3383280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371600"/>
            <a:ext cx="338328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Serverless Native Execution &amp;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8600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Berjalan 100% pada TypeScript Native Engine (Serverless Vercel) tanpa dependensi binary C++. Performa validasi tercatat otomatis di tabel Supabase ml_metrics (Akurasi Rata-rata 88.8% / MAPE 11.18%).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Kesimpulan &amp; Arah Pengembangan Strategis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📌 KESIMPULAN UTAMA PLATFORM KETAPANG:</a:t>
            </a:r>
          </a:p>
          <a:p>
            <a:pPr>
              <a:defRPr sz="1300">
                <a:solidFill>
                  <a:srgbClr val="D1FAE5"/>
                </a:solidFill>
              </a:defRPr>
            </a:pPr>
            <a:r>
              <a:t>1. Solusi Kompleks Kerawanan Pangan: Platform KETAPANG berhasil memodernisasi analisis ketahanan pangan Kota Cilegon melalui penggabungan Peta GIS 43 Kelurahan, Grafik Radar 11 Indikator FSVA 2025, dan EWS SKPG.</a:t>
            </a:r>
          </a:p>
          <a:p>
            <a:pPr>
              <a:defRPr sz="1300">
                <a:solidFill>
                  <a:srgbClr val="D1FAE5"/>
                </a:solidFill>
              </a:defRPr>
            </a:pPr>
            <a:r>
              <a:t>2. Keandalan AI &amp; Peringatan Dini: Penggunaan Machine Learning berbasis HBKN &amp; Cuaca BMKG terbukti memberikan akurasi prediksi harga pangan sebesar 88.8% (MAPE 11.18%), memungkinkan Pemkot Cilegon melakukan aksi pencegahan sebelum gejolak harga terjadi.</a:t>
            </a:r>
          </a:p>
          <a:p>
            <a:pPr>
              <a:defRPr sz="1300">
                <a:solidFill>
                  <a:srgbClr val="D1FAE5"/>
                </a:solidFill>
              </a:defRPr>
            </a:pPr>
            <a:r>
              <a:t>3. Efektivitas Pengambilan Kebijakan: Penjanaan otomatis Rekomendasi Kebijakan (Policy Action) memastikan setiap intervensi (GPM, PMT Lokal, Bantuan Pangan, Air Bersih) tepat sasaran di tingkat kelurahan.</a:t>
            </a:r>
          </a:p>
          <a:p>
            <a:pPr>
              <a:defRPr sz="1300">
                <a:solidFill>
                  <a:srgbClr val="D1FAE5"/>
                </a:solidFill>
              </a:defRPr>
            </a:pPr>
            <a:r>
              <a:t>4. Menuju Smart Food City: Platform ini menempatkan Kota Cilegon sebagai pelopor tata kelola ketahanan pangan digital di Provinsi Banten.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7F3D0"/>
                </a:solidFill>
              </a:defRPr>
            </a:pPr>
            <a:r>
              <a:t>DASHBOARD KETAPANG KOTA CILEGON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Daftar Referensi Ilmiah (APA Style 6th Edition)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Badan Pangan Nasional. (2025). Petunjuk teknis penyusunan Peta Ketahanan dan Kerawanan Pangan (Food Security and Vulnerability Atlas - FSVA) Kabupaten/Kota. Jakarta: Bapanas RI.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Badan Pusat Statistik Kota Cilegon. (2025). Kota Cilegon dalam angka 2025. Cilegon: BPS Kota Cilegon.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Food and Agriculture Organization. (2023). The state of food security and nutrition in the world 2023: Transforming food systems for affordable healthy diets. Rome: FAO.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Hastuti, R., &amp; Rahmanto, B. (2022). Penerapan Early Warning System (EWS) Sistem Kewaspadaan Pangan dan Gizi di tingkat daerah. Jurnal Analisis Kebijakan Pertanian, 20(1), 45-58.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Hyndman, R. J., &amp; Athanasopoulos, G. (2021). Forecasting: Principles and practice (3rd ed.). Melbourne: OTexts.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Nitiyudo, A., &amp; Purwanto, E. (2024). Pemodelan prediksi harga pangan pokok menggunakan algoritma Machine Learning berbasis faktor iklim dan musiman. Jurnal Teknologi Informasi dan Rekayasa Sistem, 12(2), 112-125.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Sudaryanto, T., Syahyuti, S., &amp; Agus, F. (2021). Strategi dan kebijakan ketahanan pangan wilayah perkotaan berbasis lahan terbatas. Jurnal Penelitian dan Pengembangan Pertanian, 40(2), 89-102.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World Bank. (2023). Indonesia economic prospect: Climate change and food security. Washington, DC: World Bank Group.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defRPr sz="1800">
                <a:solidFill>
                  <a:srgbClr val="D1FAE5"/>
                </a:solidFill>
              </a:defRPr>
            </a:pPr>
            <a:r>
              <a:t>Platform KETAPANG Kota Cilegon - Mewujudkan Ketahanan Pangan Berkelanjutan &amp; Berbasis Digital</a:t>
            </a:r>
          </a:p>
          <a:p>
            <a:pPr algn="ctr">
              <a:defRPr sz="1400">
                <a:solidFill>
                  <a:srgbClr val="A7F3D0"/>
                </a:solidFill>
              </a:defRPr>
            </a:pPr>
            <a:r>
              <a:t>Dinas Ketahanan Pangan dan Pertanian Kota Cilegon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