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2" d="100"/>
          <a:sy n="102" d="100"/>
        </p:scale>
        <p:origin x="-134" y="-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440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Selamat pagi Dewan Juri GovTechAthon 2026. Kami dari Pemerintah Kota Cilegon mempersembahkan Dashboard Ketapang, inovasi tata kelola ketahanan pangan terpadu berbasis AI dan GIS untuk kota industri.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Ketergantungan pangan Cilegon &gt;85% membuat daerah sangat rentan. Sistem manual dan data terpisah membuat respons pemda terlambat. KETAPANG hadir menjawab kebutuhan integrasi dan prediksi.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KETAPANG menyatukan 3 pilar pangan nasional ke dalam satu data hub terpadu yang menghasilkan rekomendasi kebijakan intervensi secara otomatis.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Peta GIS KETAPANG menampilkan kerawanan hingga tingkat kelurahan dan mendigitalkan 407 petak sawah serta seluruh kelompok tani di Cilegon.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Radar 11 indikator FSVA 2025 membedah anatomi kerawanan per kelurahan. Dynamic Policy Action Generator memberikan rekomendasi intervensi otomatis sesuai indikator terlemah.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Engine KETAPANG memprediksi harga dengan akurasi 92,34%. EWS 3-layer memberi peringatan dini 30-90 hari sebelum gejolak harga terjadi.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Assistant KETAPANG dapat mengendalikan peta spasial (Reverse Intelligence) dan Kamera Cerdas membantu enumerator memverifikasi pasokan pasar secara otomatis lewat foto.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Interoperabilitas data menghubungkan 6 sistem berbeda. Mekanisme local caching dan automated smoke test menjamin sistem tetap aktif tanpa gangguan.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KETAPANG memangkas waktu analisis dari minggu menjadi detik dan siap direplikasi ke kabupaten/kota lain di Indonesia bersama Jakarta Smart 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Inovasi KETAPANG berlandaskan hukum dan metodologi ilmiah yang kuat, siap dikembangkan menjadi produk enterprise bersama Jakarta Smart 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41"/>
          </a:solidFill>
          <a:ln>
            <a:solidFill>
              <a:srgbClr val="0B1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2367" y="1188720"/>
            <a:ext cx="9966960" cy="391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rPr sz="1600" i="1"/>
              <a:t>GovTechAthon 2026</a:t>
            </a:r>
            <a:r>
              <a:rPr lang="en-US" sz="1600" i="1"/>
              <a:t> </a:t>
            </a:r>
            <a:r>
              <a:rPr lang="en-US" sz="1600"/>
              <a:t>|</a:t>
            </a:r>
            <a:r>
              <a:rPr lang="en-US" sz="1600" i="1"/>
              <a:t> Concept Note</a:t>
            </a:r>
            <a:r>
              <a:rPr sz="1600" i="1"/>
              <a:t> </a:t>
            </a:r>
            <a:endParaRPr lang="en-ID" sz="1600" i="1"/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ID" sz="5400">
                <a:cs typeface="Aharoni" panose="02010803020104030203" pitchFamily="2" charset="-79"/>
              </a:rPr>
              <a:t>PAP-C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3200"/>
              <a:t>PLATFORM ANALIS PANGAN CILEGON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sz="2400" i="1">
                <a:latin typeface="+mj-lt"/>
              </a:rPr>
              <a:t>Food Security Intelligence &amp; Decision Support System</a:t>
            </a:r>
          </a:p>
          <a:p>
            <a:pPr>
              <a:spcBef>
                <a:spcPts val="1000"/>
              </a:spcBef>
              <a:defRPr sz="1800">
                <a:solidFill>
                  <a:srgbClr val="A7F3D0"/>
                </a:solidFill>
              </a:defRPr>
            </a:pPr>
            <a:r>
              <a:rPr sz="1600"/>
              <a:t>Sistem Informasi &amp; Peringatan Dini Ketahanan Pangan </a:t>
            </a:r>
            <a:r>
              <a:rPr lang="en-US" sz="1600"/>
              <a:t>Terintegrasi </a:t>
            </a:r>
            <a:r>
              <a:rPr sz="1600"/>
              <a:t>Berbasis AI, Machine Learning, dan Spasial GIS</a:t>
            </a:r>
          </a:p>
          <a:p>
            <a:pPr>
              <a:spcBef>
                <a:spcPts val="2400"/>
              </a:spcBef>
              <a:defRPr sz="1300">
                <a:solidFill>
                  <a:srgbClr val="E2E8F0"/>
                </a:solidFill>
              </a:defRPr>
            </a:pPr>
            <a:r>
              <a:t>• Tema: "Tantangan Lokal, Solusi Berstandar Global"</a:t>
            </a:r>
            <a:br/>
            <a:r>
              <a:t>• Pilar Smart City: Smart Government (Utama), Smart Living &amp; Smart Economy</a:t>
            </a:r>
            <a:br/>
            <a:r>
              <a:t>• Sasaran SDGs: SDG 2 (Tanpa Kelaparan) &amp; SDG 3 (Kehidupan Sehat dan Sejahtera)</a:t>
            </a:r>
            <a:br/>
            <a:r>
              <a:t>• Pengusung: Tim Inovasi ASN — Dinas Ketahanan Pangan dan Pertanian Kota Cilegon</a:t>
            </a:r>
            <a:br/>
            <a:r>
              <a:t>• Tanggal &amp; Lokasi: 24 September 2026 | Kota Cilegon, Provinsi Banten</a:t>
            </a:r>
            <a:br/>
            <a:r>
              <a:t>• Kontak: ketapangcilegon@gmail.com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GOVTECHATHON 2026 | JAKARTA SMART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E41"/>
                </a:solidFill>
              </a:defRPr>
            </a:pPr>
            <a:r>
              <a:t>Urban Issue: Paradoks Ketahanan Pangan di Kota Industri Berat Cilegon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B1E41"/>
                </a:solidFill>
              </a:defRPr>
            </a:pPr>
            <a:r>
              <a:t>FAKTA &amp; DATA STATISTIK DAERAH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Kota Industri Berat: Wilayah 175,51 km², 450.000+ penduduk, namun lahan sawah aktif hanya ~1.100–1.400 Ha (&lt;5% wilayah).</a:t>
            </a:r>
            <a:br/>
            <a:r>
              <a:t>• Ketergantungan Ekstrem &gt;85%: Pasokan pangan pokok Cilegon sepenuhnya bergantung pada pasokan luar daerah (Jateng, Jatim, Lampung via Selat Sunda).</a:t>
            </a:r>
            <a:br/>
            <a:r>
              <a:t>• Volatilitas Harga Tinggi: Komoditas bergejolak (cabai, bawang, beras, telur) memiliki koefisien variasi (CV) &gt;20% di pasar tradisional saat cuaca buruk atau HBKN.</a:t>
            </a:r>
            <a:br/>
            <a:r>
              <a:t>• Disparitas Spasial: Terdapat kelurahan rentan dengan akses air bersih &lt;85% dan angka prevalensi stunting balita 7%–9%.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MENGAPA UPAYA SEBELUMNYA BELUM OPTIMAL?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1. Silo Data Antar-OPD: Data harga harian (Disperindag), data stunting (Dinkes), dan produksi (DKPP) terpisah tanpa jembatan analitik terpadu.</a:t>
            </a:r>
            <a:br/>
            <a:r>
              <a:t>2. Analisis Manual yang Lambat: Dokumen FSVA dan SKPG konvensional diolah manual berbulan-bulan, sehingga data usang saat dipublikasikan.</a:t>
            </a:r>
            <a:br/>
            <a:r>
              <a:t>3. Pendekatan Bersifat Reaktif: Intervensi pasar murah (GPM) baru dijalankan 1-2 minggu setelah harga melonjak tinggi di pasar.</a:t>
            </a:r>
            <a:br/>
            <a:br/>
            <a:r>
              <a:t>APA YANG DIBUTUHKAN?</a:t>
            </a:r>
            <a:br/>
            <a:r>
              <a:t>Sistem Pendukung Keputusan Eksekutif (DSS) &amp; EWS real-time berbasis AI yang memprediksi harga 1-3 bulan ke depan, memetakan kerawanan mikro 43 kelurahan, dan menerbitkan rekomendasi aksi otomatis.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GOVTECHATHON 2026 | JAKARTA SMART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E41"/>
                </a:solidFill>
              </a:defRPr>
            </a:pPr>
            <a:r>
              <a:t>Inovasi Produk Digital: Pendekatan Solusi &amp; Arsitektur KETAPANG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291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PILAR 1: KETERSEDIAAN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Pemantauan 407 Petak Sawah Spasial</a:t>
            </a:r>
            <a:br/>
            <a:r>
              <a:t>• Cadangan Pangan Daerah (CPPD)</a:t>
            </a:r>
            <a:br/>
            <a:r>
              <a:t>• Agroklimat BMKG &amp; NDVI Satelit</a:t>
            </a:r>
            <a:br/>
            <a:r>
              <a:t>• Neraca Bahan Makanan (NBM)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3291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PILAR 2: KETERJANGKAUAN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Scraping Harga 3 Pasar Tradisional</a:t>
            </a:r>
            <a:br/>
            <a:r>
              <a:t>• AI Price Forecasting 1-3 Bulan (ML)</a:t>
            </a:r>
            <a:br/>
            <a:r>
              <a:t>• Volatilitas Koefisien Variasi (CV)</a:t>
            </a:r>
            <a:br/>
            <a:r>
              <a:t>• 3-Layer Early Warning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3291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B1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B1E41"/>
                </a:solidFill>
              </a:defRPr>
            </a:pPr>
            <a:r>
              <a:t>PILAR 3: PEMANFAATAN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Surveilans Stunting Balita e-PPGBM</a:t>
            </a:r>
            <a:br/>
            <a:r>
              <a:t>• Akses Air Bersih &amp; Sanitasi Layak</a:t>
            </a:r>
            <a:br/>
            <a:r>
              <a:t>• Skor Pola Pangan Harapan (PPH)</a:t>
            </a:r>
            <a:br/>
            <a:r>
              <a:t>• Edukasi Konsumsi B2SA Beragam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0B1E41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OUTPUT: DECISION SUPPORT SYSTEM (DSS) &amp; DYNAMIC POLICY ACTION GENERATOR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Sistem secara otomatis menghasilkan rekomendasi intervensi presisi: "Kelurahan X Prioritas Operasi Pasar GPM" atau "Kelurahan Y Prioritas Bantuan PMT Gizi Balita &amp; Air Bersih".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GOVTECHATHON 2026 | JAKARTA SMART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E41"/>
                </a:solidFill>
              </a:defRPr>
            </a:pPr>
            <a:r>
              <a:t>Fitur Unggulan 1: Peta Spasial GIS 43 Kelurahan &amp; Agro-Satelit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B1E41"/>
                </a:solidFill>
              </a:defRPr>
            </a:pPr>
            <a:r>
              <a:t>1. CHOROPLETH TEMATIK 43 KELURAHAN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Visualisasi interaktif batas wilayah 43 kelurahan di 8 kecamatan dengan pembobotan skor komposit IKP, 3 sub-indeks pilar, dan ranking Borda Count Desil Prioritas 1 s/d 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B1E41"/>
                </a:solidFill>
              </a:defRPr>
            </a:pPr>
            <a:r>
              <a:t>2. INTEGRASI 407 PETAK SAWAH AKTIF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Digitalisasi poligon spasial 407 petak sawah aktif Kota Cilegon yang terhubung dengan basis data Serumpun Padi DKPP.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B1E41"/>
                </a:solidFill>
              </a:defRPr>
            </a:pPr>
            <a:r>
              <a:t>3. SEBARAN SEKTOR PANGAN MIKRO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Pin koordinat kelompok tani (Poktan), tambak budidaya ikan, nelayan tangkap pesisir, peternakan, dan Kelompok Wanita Tani (KWT).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B1E41"/>
                </a:solidFill>
              </a:defRPr>
            </a:pPr>
            <a:r>
              <a:t>4. TELEMETRI AGRO-SATELIT &amp; GPS TRACKER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Analisis vegetasi NDVI dari citra satelit untuk mendeteksi potensi gagal panen atau kekeringan, dilengkapi fitur GPS Live Tracker untuk survei lapangan.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GOVTECHATHON 2026 | JAKARTA SMART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E41"/>
                </a:solidFill>
              </a:defRPr>
            </a:pPr>
            <a:r>
              <a:t>Fitur Unggulan 2: Radar 11 Indikator FSVA 2025 &amp; Automatic Policy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B1E41"/>
                </a:solidFill>
              </a:defRPr>
            </a:pPr>
            <a:r>
              <a:t>11 INDIKATOR FSVA FORM 2 (BAPANAS 2025)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PILAR KETERSEDIAAN:</a:t>
            </a:r>
            <a:br/>
            <a:r>
              <a:t>  1.1 NCPR (Rasio Kebutuhan Pangan Pokok)</a:t>
            </a:r>
            <a:br/>
            <a:r>
              <a:t>  1.2 Angka Kecukupan Energi (AKE)</a:t>
            </a:r>
            <a:br/>
            <a:r>
              <a:t>  1.3 Ketersediaan Protein Hewani</a:t>
            </a:r>
            <a:br/>
            <a:r>
              <a:t>  1.4 Cadangan Pangan Pemerintah Daerah (CPPD)</a:t>
            </a:r>
            <a:br/>
            <a:br/>
            <a:r>
              <a:t>• PILAR KETERJANGKAUAN:</a:t>
            </a:r>
            <a:br/>
            <a:r>
              <a:t>  2.1 Penduduk Miskin Desil 1 &amp; 2</a:t>
            </a:r>
            <a:br/>
            <a:r>
              <a:t>  2.2 Stabilitas Harga Pangan (Koefisien Variasi)</a:t>
            </a:r>
            <a:br/>
            <a:r>
              <a:t>  2.3 Prevalensi Kurang Pangan (PoU)</a:t>
            </a:r>
            <a:br/>
            <a:br/>
            <a:r>
              <a:t>• PILAR PEMANFAATAN:</a:t>
            </a:r>
            <a:br/>
            <a:r>
              <a:t>  3.1 Rata-rata Lama Sekolah Perempuan 15+ Thn</a:t>
            </a:r>
            <a:br/>
            <a:r>
              <a:t>  3.2 Rumah Tangga Tanpa Akses Air Minum Layak</a:t>
            </a:r>
            <a:br/>
            <a:r>
              <a:t>  3.3 Skor Pola Pangan Harapan (PPH) Konsumsi</a:t>
            </a:r>
            <a:br/>
            <a:r>
              <a:t>  3.4 Prevalensi Balita Stunting Bulanan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DYNAMIC POLICY ACTION GENERATOR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Inovasi Kartu Evaluasi Emas Otomatis:</a:t>
            </a:r>
            <a:br/>
            <a:r>
              <a:t>Sistem secara cerdas menganalisis indikator terlemah di kelurahan terpilih dan menghasilkan rekomendasi intervensi kebijakan instan:</a:t>
            </a:r>
            <a:br/>
            <a:br/>
            <a:r>
              <a:t>• Jika Defisit Balita Stunting:</a:t>
            </a:r>
            <a:br/>
            <a:r>
              <a:t>  -&gt; Rekomendasi: Intervensi PMT Lokal Posyandu, Edukasi B2SA, dan Sanitasi Puskesmas.</a:t>
            </a:r>
            <a:br/>
            <a:br/>
            <a:r>
              <a:t>• Jika Defisit Volatilitas Harga (CV Tinggi):</a:t>
            </a:r>
            <a:br/>
            <a:r>
              <a:t>  -&gt; Rekomendasi: Eksekusi Gerakan Pangan Murah (GPM) &amp; Operasi Pasar Disperindag di kelurahan sasaran.</a:t>
            </a:r>
            <a:br/>
            <a:br/>
            <a:r>
              <a:t>• Jika Defisit Air Bersih:</a:t>
            </a:r>
            <a:br/>
            <a:r>
              <a:t>  -&gt; Rekomendasi: Usulan prioritas pembangunan SPAM / sarana air bersih DPUPR dalam Musrenbang.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GOVTECHATHON 2026 | JAKARTA SMART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E41"/>
                </a:solidFill>
              </a:defRPr>
            </a:pPr>
            <a:r>
              <a:t>Fitur Unggulan 3: AI Price Forecasting &amp; 3-Layer Early Warning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B1E41"/>
                </a:solidFill>
              </a:defRPr>
            </a:pPr>
            <a:r>
              <a:t>ENGINE MACHINE LEARNING NATIVE TYPESCRIPT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Cakupan: 10 Komoditas Pangan Strategis (Beras, Cabai Merah, Cabai Rawit, Bawang Merah, Daging Ayam, Sapi, Telur, Minyak, Gula).</a:t>
            </a:r>
            <a:br/>
            <a:r>
              <a:t>• Horizon Waktu: Peramalan 1 Bulan &amp; 3 Bulan ke Depan.</a:t>
            </a:r>
            <a:br/>
            <a:r>
              <a:t>• Pipeline Model Selection: Membandingkan secara dinamis 3 model (Random Forest, Gradient Boosted Decision Trees, dan OLS dengan Dekomposisi Gaussian LU).</a:t>
            </a:r>
            <a:br/>
            <a:r>
              <a:t>• Validasi Ketat: Expanding Window / Walk-Forward Cross-Validation (4 Fold, n ≈ 43 observasi out-of-sample).</a:t>
            </a:r>
            <a:br/>
            <a:r>
              <a:t>• Kinerja Presisi: Rata-rata Akurasi 92,34% (Rata-rata MAPE Lintas Komoditas 7,66%).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MEKANISME 3-LAYER EARLY WARNING SYSTEM (EWS)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1. Layer 1: Tren Prediksi Model AI</a:t>
            </a:r>
            <a:br/>
            <a:r>
              <a:t>   Mendeteksi kenaikan harga di luar batas musiman normal.</a:t>
            </a:r>
            <a:br/>
            <a:br/>
            <a:r>
              <a:t>2. Layer 2: Ambang Batas Koefisien Variasi (CV) Pasar</a:t>
            </a:r>
            <a:br/>
            <a:r>
              <a:t>   • Hijau (&lt;10%) : Harga Stabil</a:t>
            </a:r>
            <a:br/>
            <a:r>
              <a:t>   • Kuning (10-15%): Waspada Fluktuasi</a:t>
            </a:r>
            <a:br/>
            <a:r>
              <a:t>   • Merah (&gt;15%) : Gejolak Ekstrem / Butuh Intervensi GPM</a:t>
            </a:r>
            <a:br/>
            <a:br/>
            <a:r>
              <a:t>3. Layer 3: Pertumbuhan YoY SKPG Bulanan</a:t>
            </a:r>
            <a:br/>
            <a:r>
              <a:t>   Memonitor sinyal kerawanan pangan dan akses pangan rumah tangga.</a:t>
            </a:r>
            <a:br/>
            <a:br/>
            <a:r>
              <a:t>-&gt; Output: Sinyal peringatan dini 30-90 hari sebelum harga melonjak di pasar.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GOVTECHATHON 2026 | JAKARTA SMART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E41"/>
                </a:solidFill>
              </a:defRPr>
            </a:pPr>
            <a:r>
              <a:t>Fitur Unggulan 4: Multimodal AI Food Intelligence &amp; Kamera Cerdas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B1E41"/>
                </a:solidFill>
              </a:defRPr>
            </a:pPr>
            <a:r>
              <a:t>AI FOOD INTELLIGENCE ASSISTANT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Antarmuka Percakapan Eksekutif (ChatGPT UI/UX Style): Pengambil kebijakan dapat bertanya dalam bahasa Indonesia sehari-hari.</a:t>
            </a:r>
            <a:br/>
            <a:r>
              <a:t>• Rendering Grafik Dinamis: AI merender grafik deret waktu Recharts langsung di dalam bubble chat.</a:t>
            </a:r>
            <a:br/>
            <a:r>
              <a:t>• Reverse Intelligence / MapAction: AI mengontrol peta spasial secara mandiri (terbang/zoom ke kelurahan dan menyalakan layer tematik yang ditanyakan).</a:t>
            </a:r>
            <a:br/>
            <a:r>
              <a:t>• Bebas Halusinasi (RAG Grounded): Jawaban berlandaskan dokumen regulasi resmi, juknis Bapanas, dan data statistik terverifikasi.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KAMERA CERDAS (COMPUTER VISION LAPANGAN)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Mobile Field Web Tool: Digunakan enumerator pasar dan penyuluh pertanian lapangan via smartphone.</a:t>
            </a:r>
            <a:br/>
            <a:r>
              <a:t>• Pengenalan Visual AI Multimodal: Memotret sarana pasar atau tanaman di sawah, AI mengenali komoditas, estimasi stok, dan mendeteksi anomali/hama.</a:t>
            </a:r>
            <a:br/>
            <a:r>
              <a:t>• Reverse Geocoding Otomatis: Hasil foto otomatis dicocokkan dengan koordinat GPS dan nama kelurahan terdekat di Cilegon.</a:t>
            </a:r>
            <a:br/>
            <a:r>
              <a:t>• Sinkronisasi Instan: Data observasi lapangan langsung tersimpan ke Supabase database untuk memperbarui status 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GOVTECHATHON 2026 | JAKARTA SMART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E41"/>
                </a:solidFill>
              </a:defRPr>
            </a:pPr>
            <a:r>
              <a:t>Ekosistem Kolaboratif: Integrasi Terbuka Lintas Sektor (&gt;5 Sistem)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B1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B1E41"/>
                </a:solidFill>
              </a:defRPr>
            </a:pPr>
            <a:r>
              <a:t>1. SAGON Disperindag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Harga harian 3 pasar tradisional via automated scraping parser.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2. e-PPGBM Dinas Kesehatan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Data surveilans stunting dan gizi balita bulanan 43 kelurahan.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3. BMKG Banten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Data curah hujan, suhu, dan anomali ENSO untuk fitur iklim ML.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338328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B1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B1E41"/>
                </a:solidFill>
              </a:defRPr>
            </a:pPr>
            <a:r>
              <a:t>4. BPS Kota Cilegon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Data angka kemiskinan makro, PDRB, dan laju inflasi daerah.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49039"/>
            <a:ext cx="338328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5. Serumpun Padi DKPP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Data spasial 407 petak sawah dan registrasi kelompok tani.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749039"/>
            <a:ext cx="338328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6. Bapanas &amp; Bulog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Standar FSVA 11 Form 2025 dan data cadangan pangan daerah.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RESILIENSI SISTEM: Dilengkapi Automated Local Caching &amp; Fallback serta Automated Pipeline Smoke Test.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GOVTECHATHON 2026 | JAKARTA SMART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E41"/>
                </a:solidFill>
              </a:defRPr>
            </a:pPr>
            <a:r>
              <a:t>Result Prediction, Dampak Strategis &amp; Roadmap Replikasi Daerah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B1E41"/>
                </a:solidFill>
              </a:defRPr>
            </a:pPr>
            <a:r>
              <a:t>EFISIENSI &amp; DAMPAK TERUKUR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Kecepatan Analisis Data: Dari 2–3 Minggu (manual) menjadi &lt;5 Detik (otomatis).</a:t>
            </a:r>
            <a:br/>
            <a:r>
              <a:t>• Waktu Respons Operasi Pasar: Dipangkas dari 14 hari menjadi &lt;48 jam pasca-peringatan EWS.</a:t>
            </a:r>
            <a:br/>
            <a:r>
              <a:t>• Efisiensi Anggaran APBD: Mencegah salah sasaran intervensi subsidi pangan (potensi penghematan &gt;Rp300 juta/tahun).</a:t>
            </a:r>
            <a:br/>
            <a:r>
              <a:t>• Akurasi Peramalan Harga: Konsisten &gt;90% (MAPE &lt;10%).</a:t>
            </a:r>
            <a:br/>
            <a:r>
              <a:t>• Cakupan Pemantauan: 100% dari 43 kelurahan terpantau secara berkala.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POTENSI REPLIKASI ANTAR-DAERAH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Keselarasan Regulasi Nasional: Mengacu 100% pada pedoman Juknis FSVA 2025 Bapanas RI dan Perpres Ketahanan Pangan.</a:t>
            </a:r>
            <a:br/>
            <a:r>
              <a:t>• Arsitektur Modular Serverless: Dibangun dengan TypeScript dan Next.js, mudah diterapkan tanpa biaya lisensi perangkat lunak mahal.</a:t>
            </a:r>
            <a:br/>
            <a:r>
              <a:t>• Skalabilitas Nasional: Sangat mudah direplikasi ke 514 Kabupaten/Kota se-Indonesia, terutama daerah perkotaan yang bergantung pada pasokan pangan eksternal.</a:t>
            </a:r>
            <a:br/>
            <a:r>
              <a:t>• Peluang Co-Creation bersama JSC: Pengembangan Open API Pangan antardaerah dalam kerangka GovTech Indonesia.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GOVTECHATHON 2026 | JAKARTA SMART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E41"/>
                </a:solidFill>
              </a:defRPr>
            </a:pPr>
            <a:r>
              <a:t>Landasan Regulasi &amp; Referensi Ilmiah Terverifikasi (APA Style)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B1E41"/>
                </a:solidFill>
              </a:defRPr>
            </a:pPr>
            <a:r>
              <a:t>REGULASI &amp; KEBIJAKAN RESMI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1. Undang-Undang No. 18 Tahun 2012 tentang Pangan.</a:t>
            </a:r>
            <a:br/>
            <a:r>
              <a:t>2. Peraturan Pemerintah No. 17 Tahun 2015 tentang Ketahanan Pangan dan Gizi.</a:t>
            </a:r>
            <a:br/>
            <a:r>
              <a:t>3. Peraturan Presiden No. 66 Tahun 2021 tentang Badan Pangan Nasional.</a:t>
            </a:r>
            <a:br/>
            <a:r>
              <a:t>4. Peraturan Presiden No. 95 Tahun 2018 tentang SPBE.</a:t>
            </a:r>
            <a:br/>
            <a:r>
              <a:t>5. Peraturan Bapanas No. 12 Tahun 2024 tentang Sistem Peringatan Dini Kerawanan Pangan dan Gizi.</a:t>
            </a:r>
            <a:br/>
            <a:r>
              <a:t>6. Petunjuk Teknis Penyusunan FSVA Kabupaten/Kota 2025, Badan Pangan Nasional RI.</a:t>
            </a:r>
            <a:br/>
            <a:r>
              <a:t>7. Dokumen RPJMD Kota Cilegon &amp; RKPD Cilegon 2025-2026.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59669"/>
                </a:solidFill>
              </a:defRPr>
            </a:pPr>
            <a:r>
              <a:t>REFERENSI KAJIAN &amp; PUBLIKASI ILMIAH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FAO. (2023). The State of Food Security and Nutrition in the World: Transforming Food Systems for Affordable Healthy Diets. Rome: FAO.</a:t>
            </a:r>
            <a:br/>
            <a:r>
              <a:t>• Hastuti, R., &amp; Rahmanto, B. (2022). Penerapan EWS Sistem Kewaspadaan Pangan dan Gizi di Tingkat Daerah. Jurnal Analisis Kebijakan Pertanian, 20(1), 45-58.</a:t>
            </a:r>
            <a:br/>
            <a:r>
              <a:t>• Hyndman, R. J., &amp; Athanasopoulos, G. (2021). Forecasting: Principles and Practice (3rd ed.). OTexts.</a:t>
            </a:r>
            <a:br/>
            <a:r>
              <a:t>• Nitiyudo, A., &amp; Purwanto, E. (2024). Pemodelan Prediksi Harga Pangan Pokok Menggunakan Algoritma Machine Learning. Jurnal Teknologi Informasi, 12(2), 112-125.</a:t>
            </a:r>
            <a:br/>
            <a:r>
              <a:t>• World Bank. (2023). Indonesia Economic Prospects: Climate Change and Food Security. Washington, DC: World Bank Group.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TERIMA KASIH — PEMERINTAH KOTA CILEGON × JAKARTA SMART CITY (GOVTECHATHON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2204</Words>
  <Application>Microsoft Office PowerPoint</Application>
  <PresentationFormat>Widescreen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Ridwan S</cp:lastModifiedBy>
  <cp:revision>8</cp:revision>
  <dcterms:created xsi:type="dcterms:W3CDTF">2013-01-27T09:14:16Z</dcterms:created>
  <dcterms:modified xsi:type="dcterms:W3CDTF">2026-09-28T06:07:09Z</dcterms:modified>
  <cp:category/>
</cp:coreProperties>
</file>